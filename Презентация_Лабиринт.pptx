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239725D-4D2F-49E0-94CB-9E04B45AE089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D8F216-77FC-4A10-BAC8-6C41F03DCE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B3C371-1969-4CE9-86EC-17931B7A55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12590D-5118-4901-8394-2DDF203C95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F23792-2299-416D-91AE-29B270A711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D060A8-AD45-426B-A6D3-0195EC63E0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4D1FD2-D7B3-46BC-8FD8-BA1540B6CC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AE780F-051F-4FD1-BA9F-AF88E4EF66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1FF83D-DC24-4CA3-8604-72C18D72D0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D4C433-E8E8-4568-9367-124BE412F0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D26DD5-7E98-40AA-BDAE-825D93E59E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99E2C1-0314-4C6E-A1A1-7CBAB4069D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02920" y="255960"/>
            <a:ext cx="80456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Игра «Лабиринт»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30280" y="80460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9006840" y="301680"/>
            <a:ext cx="26049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Роль: общая часть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30280" y="6446520"/>
            <a:ext cx="4570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Проект 3 · Программная инженерия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/mnt/data/maze_screens_cropped/01_main_safe.png"/>
          <p:cNvPicPr/>
          <p:nvPr/>
        </p:nvPicPr>
        <p:blipFill>
          <a:blip r:embed="rId1"/>
          <a:stretch/>
        </p:blipFill>
        <p:spPr>
          <a:xfrm>
            <a:off x="496800" y="1401120"/>
            <a:ext cx="5622480" cy="391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7"/>
          <p:cNvSpPr/>
          <p:nvPr/>
        </p:nvSpPr>
        <p:spPr>
          <a:xfrm>
            <a:off x="540000" y="5577840"/>
            <a:ext cx="5622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Главное окно игры</a:t>
            </a:r>
            <a:endParaRPr lang="ru-RU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02920" y="255960"/>
            <a:ext cx="80456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Цель и требования проекта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30280" y="80460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9006840" y="301680"/>
            <a:ext cx="26049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Роль: менеджер проекта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530280" y="6446520"/>
            <a:ext cx="4570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Проект 3 · Программная инженерия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594360" y="123444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Цель проекта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594360" y="1691640"/>
            <a:ext cx="516528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Разработать однопользовательскую игру с графическим интерфейсом, где игрок проходит случайный лабиринт, избегая стен и активных ловушек.</a:t>
            </a:r>
            <a:endParaRPr lang="ru-RU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594360" y="3154680"/>
            <a:ext cx="3656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Ключевые требования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594360" y="3593520"/>
            <a:ext cx="521100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</a:pPr>
            <a:r>
              <a:rPr lang="en-US" sz="138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38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новый лабиринт при запуске и команде «Новая игра»</a:t>
            </a:r>
            <a:endParaRPr lang="ru-RU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8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38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перемещение только по свободным клеткам</a:t>
            </a:r>
            <a:endParaRPr lang="ru-RU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8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38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активные ловушки приводят к поражению</a:t>
            </a:r>
            <a:endParaRPr lang="ru-RU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8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38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выход приводит к победе с показом числа шагов</a:t>
            </a:r>
            <a:endParaRPr lang="ru-RU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8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38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меню, справка, кнопки управления и информационная панель</a:t>
            </a:r>
            <a:endParaRPr lang="ru-RU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502920" y="255960"/>
            <a:ext cx="80456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Структура реализации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9006840" y="301680"/>
            <a:ext cx="26049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Роль: разработчик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530280" y="6446520"/>
            <a:ext cx="4570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Проект 3 · Программная инженерия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685800" y="120708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Классы приложения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685800" y="1755720"/>
            <a:ext cx="19191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MazeGenerator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2788920" y="1746360"/>
            <a:ext cx="34736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создаёт случайный лабиринт на двумерной сетке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685800" y="2331720"/>
            <a:ext cx="19191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MazeGame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2788920" y="2322720"/>
            <a:ext cx="34736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хранит состояние партии, шаги, выход и ловушки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685800" y="2907720"/>
            <a:ext cx="19191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MazeApp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2788920" y="2898720"/>
            <a:ext cx="34736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создаёт GUI, меню, кнопки, обработку клавиш и окон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685800" y="3977640"/>
            <a:ext cx="3747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Реализованный интерфейс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685800" y="4416480"/>
            <a:ext cx="5302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35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меню «Игра» и «Справка»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35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кнопки «Новая игра», «Выход», «Помощь», «О программе»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35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управление стрелками, WASD и кнопками в интерфейсе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35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панель: цель, шаги и состояние ловушек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0" descr="/mnt/data/maze_screens_cropped/01_main_safe.png"/>
          <p:cNvPicPr/>
          <p:nvPr/>
        </p:nvPicPr>
        <p:blipFill>
          <a:blip r:embed="rId1"/>
          <a:stretch/>
        </p:blipFill>
        <p:spPr>
          <a:xfrm>
            <a:off x="7740000" y="1621800"/>
            <a:ext cx="2519640" cy="413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02920" y="255960"/>
            <a:ext cx="80456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План тестирования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9006840" y="301680"/>
            <a:ext cx="26049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Роль: тестировщик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530280" y="6446520"/>
            <a:ext cx="4570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Проект 3 · Программная инженерия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640080" y="123444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Области проверки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658440" y="1691640"/>
            <a:ext cx="5028120" cy="361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</a:pPr>
            <a:r>
              <a:rPr lang="en-US" sz="152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52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запуск приложения и отображение главного окна</a:t>
            </a:r>
            <a:endParaRPr lang="ru-RU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2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52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работа меню и кнопок интерфейса</a:t>
            </a:r>
            <a:endParaRPr lang="ru-RU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2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52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перемещение игрока клавиатурой и кнопками</a:t>
            </a:r>
            <a:endParaRPr lang="ru-RU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2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52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запрет прохождения через стены</a:t>
            </a:r>
            <a:endParaRPr lang="ru-RU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2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52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активация и деактивация красных ловушек</a:t>
            </a:r>
            <a:endParaRPr lang="ru-RU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2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52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условия поражения и победы</a:t>
            </a:r>
            <a:endParaRPr lang="ru-RU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2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52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перезапуск партии без закрытия приложения</a:t>
            </a:r>
            <a:endParaRPr lang="ru-RU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6400800" y="1325880"/>
            <a:ext cx="4205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Segoe UI"/>
              </a:rPr>
              <a:t>Критерий успешности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6400800" y="1783080"/>
            <a:ext cx="4936680" cy="13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79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Фактический результат должен совпадать с ожидаемым: приложение не зависает, элементы реагируют на действия пользователя, победа и поражение обрабатываются через сообщения.</a:t>
            </a:r>
            <a:endParaRPr lang="ru-RU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6400800" y="3794760"/>
            <a:ext cx="1644840" cy="30996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Метод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8275320" y="3785760"/>
            <a:ext cx="29707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ручное функциональное тестирование по пользовательскому сценарию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6400800" y="4316040"/>
            <a:ext cx="1644840" cy="30996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Данные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8275320" y="4306680"/>
            <a:ext cx="29707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новая партия генерируется случайно; проверялись разные маршруты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6400800" y="4837320"/>
            <a:ext cx="1644840" cy="30996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Итог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8275320" y="4827960"/>
            <a:ext cx="29707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основной функционал проверен и работает корректно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502920" y="255960"/>
            <a:ext cx="80456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Сценарий использования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9006840" y="301680"/>
            <a:ext cx="26049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Роль: тестировщик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530280" y="6446520"/>
            <a:ext cx="4570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Проект 3 · Программная инженерия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658440" y="1225440"/>
            <a:ext cx="5713920" cy="42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9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1. Запустить приложение и убедиться, что отображается лабиринт.</a:t>
            </a:r>
            <a:endParaRPr lang="ru-RU" sz="1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9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2. Проверить меню: «Новая игра», «Выход», «Помощь», «О программе».</a:t>
            </a:r>
            <a:endParaRPr lang="ru-RU" sz="1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9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3. Перемещать игрока стрелками, WASD и кнопками в интерфейсе.</a:t>
            </a:r>
            <a:endParaRPr lang="ru-RU" sz="1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9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4. Проверить, что стены блокируют движение, а шаги увеличиваются только при успешном ходе.</a:t>
            </a:r>
            <a:endParaRPr lang="ru-RU" sz="1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9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5. Дождаться появления красных клеток и проверить поражение.</a:t>
            </a:r>
            <a:endParaRPr lang="ru-RU" sz="1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9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6. Дойти до зелёной клетки и проверить сообщение о победе.</a:t>
            </a:r>
            <a:endParaRPr lang="ru-RU" sz="1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0" descr="/mnt/data/maze_screens_cropped/01_main_safe.png"/>
          <p:cNvPicPr/>
          <p:nvPr/>
        </p:nvPicPr>
        <p:blipFill>
          <a:blip r:embed="rId1"/>
          <a:stretch/>
        </p:blipFill>
        <p:spPr>
          <a:xfrm>
            <a:off x="6537960" y="1614960"/>
            <a:ext cx="4982400" cy="347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6"/>
          <p:cNvSpPr/>
          <p:nvPr/>
        </p:nvSpPr>
        <p:spPr>
          <a:xfrm>
            <a:off x="6537960" y="5523120"/>
            <a:ext cx="4982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Начальное состояние перед тестом</a:t>
            </a:r>
            <a:endParaRPr lang="ru-RU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02920" y="255960"/>
            <a:ext cx="80456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Результаты: меню и кнопки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9006840" y="301680"/>
            <a:ext cx="26049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Роль: тестировщик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530280" y="6446520"/>
            <a:ext cx="4570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Проект 3 · Программная инженерия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685800" y="1188720"/>
            <a:ext cx="1827720" cy="30996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Новая игра</a:t>
            </a:r>
            <a:endParaRPr lang="ru-RU" sz="11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2743200" y="1179720"/>
            <a:ext cx="8045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лабиринт генерируется заново, игрок возвращается в старт, счётчик шагов сбрасывается до 0</a:t>
            </a:r>
            <a:endParaRPr lang="ru-RU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685800" y="1700640"/>
            <a:ext cx="1827720" cy="30996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Помощь</a:t>
            </a:r>
            <a:endParaRPr lang="ru-RU" sz="11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2743200" y="1691640"/>
            <a:ext cx="8045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открывается отдельное окно со справкой: правила, управление и описание пунктов меню</a:t>
            </a:r>
            <a:endParaRPr lang="ru-RU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691560" y="2209320"/>
            <a:ext cx="1827720" cy="3099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Выход</a:t>
            </a:r>
            <a:endParaRPr lang="ru-RU" sz="11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2700000" y="2160000"/>
            <a:ext cx="8045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приложение закрывается через кнопку или пункт меню «Игра → Выход»</a:t>
            </a:r>
            <a:endParaRPr lang="ru-RU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0" descr="/mnt/data/maze_screens_cropped/03_help_window_full.png"/>
          <p:cNvPicPr/>
          <p:nvPr/>
        </p:nvPicPr>
        <p:blipFill>
          <a:blip r:embed="rId1"/>
          <a:stretch/>
        </p:blipFill>
        <p:spPr>
          <a:xfrm>
            <a:off x="1954080" y="3429000"/>
            <a:ext cx="3040200" cy="22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13"/>
          <p:cNvSpPr/>
          <p:nvPr/>
        </p:nvSpPr>
        <p:spPr>
          <a:xfrm>
            <a:off x="777240" y="5715000"/>
            <a:ext cx="5393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Окно справки после нажатия «Помощь»</a:t>
            </a:r>
            <a:endParaRPr lang="ru-RU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1" descr="/mnt/data/maze_screens_cropped/01_main_safe.png"/>
          <p:cNvPicPr/>
          <p:nvPr/>
        </p:nvPicPr>
        <p:blipFill>
          <a:blip r:embed="rId2"/>
          <a:stretch/>
        </p:blipFill>
        <p:spPr>
          <a:xfrm>
            <a:off x="7284960" y="3429000"/>
            <a:ext cx="3213720" cy="22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14"/>
          <p:cNvSpPr/>
          <p:nvPr/>
        </p:nvSpPr>
        <p:spPr>
          <a:xfrm>
            <a:off x="6446520" y="5715000"/>
            <a:ext cx="48909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Окно справки после нажатия «О программе»</a:t>
            </a:r>
            <a:endParaRPr lang="ru-RU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502920" y="255960"/>
            <a:ext cx="80456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Результаты: управление и движение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9006840" y="301680"/>
            <a:ext cx="26049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Роль: тестировщик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530280" y="6446520"/>
            <a:ext cx="4570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Проект 3 · Программная инженерия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658440" y="1298520"/>
            <a:ext cx="5393880" cy="37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</a:pPr>
            <a:r>
              <a:rPr lang="en-US" sz="151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51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кнопки со стрелками на панели перемещают игрока в выбранном направлении</a:t>
            </a:r>
            <a:endParaRPr lang="ru-RU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1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51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клавиатурные стрелки и WASD выполняют те же действия</a:t>
            </a:r>
            <a:endParaRPr lang="ru-RU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1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51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при попытке пройти через стену позиция игрока не меняется</a:t>
            </a:r>
            <a:endParaRPr lang="ru-RU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1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51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при успешном перемещении счётчик шагов увеличивается на 1</a:t>
            </a:r>
            <a:endParaRPr lang="ru-RU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1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51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цвета объектов читаются корректно: стены тёмные, путь белый, игрок синий, выход зелёный</a:t>
            </a:r>
            <a:endParaRPr lang="ru-RU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0" descr="/mnt/data/maze_screens_cropped/01_main_safe.png"/>
          <p:cNvPicPr/>
          <p:nvPr/>
        </p:nvPicPr>
        <p:blipFill>
          <a:blip r:embed="rId1"/>
          <a:stretch/>
        </p:blipFill>
        <p:spPr>
          <a:xfrm>
            <a:off x="6309360" y="1624320"/>
            <a:ext cx="5165280" cy="35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6"/>
          <p:cNvSpPr/>
          <p:nvPr/>
        </p:nvSpPr>
        <p:spPr>
          <a:xfrm>
            <a:off x="6309360" y="5596200"/>
            <a:ext cx="51652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Игровое поле и панель управления</a:t>
            </a:r>
            <a:endParaRPr lang="ru-RU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502920" y="255960"/>
            <a:ext cx="80456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Результаты: опасные клетки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9006840" y="301680"/>
            <a:ext cx="26049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Роль: тестировщик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530280" y="6446520"/>
            <a:ext cx="4570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Проект 3 · Программная инженерия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658440" y="129852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ef4444"/>
                </a:solidFill>
                <a:effectLst/>
                <a:uFillTx/>
                <a:latin typeface="Segoe UI"/>
                <a:ea typeface="Segoe UI"/>
              </a:rPr>
              <a:t>Проверенные случаи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658440" y="1755720"/>
            <a:ext cx="516528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</a:pPr>
            <a:r>
              <a:rPr lang="en-US" sz="1420" b="1" u="none" strike="noStrike">
                <a:solidFill>
                  <a:srgbClr val="ef4444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42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ловушки каждые 2 секунды меняют состояние: безопасны / активны</a:t>
            </a:r>
            <a:endParaRPr lang="ru-RU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20" b="1" u="none" strike="noStrike">
                <a:solidFill>
                  <a:srgbClr val="ef4444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42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активные ловушки выделяются красным цветом</a:t>
            </a:r>
            <a:endParaRPr lang="ru-RU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20" b="1" u="none" strike="noStrike">
                <a:solidFill>
                  <a:srgbClr val="ef4444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42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если игрок наступает на красную клетку, появляется сообщение о поражении</a:t>
            </a:r>
            <a:endParaRPr lang="ru-RU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20" b="1" u="none" strike="noStrike">
                <a:solidFill>
                  <a:srgbClr val="ef4444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42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если игрок стоит на ловушке и она становится красной, игра также завершается поражением</a:t>
            </a:r>
            <a:endParaRPr lang="ru-RU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20" b="1" u="none" strike="noStrike">
                <a:solidFill>
                  <a:srgbClr val="ef4444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42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после подтверждения поражения создаётся новая партия</a:t>
            </a:r>
            <a:endParaRPr lang="ru-RU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0" descr="/mnt/data/maze_screens_cropped/02_active_traps.png"/>
          <p:cNvPicPr/>
          <p:nvPr/>
        </p:nvPicPr>
        <p:blipFill>
          <a:blip r:embed="rId1"/>
          <a:stretch/>
        </p:blipFill>
        <p:spPr>
          <a:xfrm>
            <a:off x="7259400" y="1298520"/>
            <a:ext cx="3082680" cy="214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7"/>
          <p:cNvSpPr/>
          <p:nvPr/>
        </p:nvSpPr>
        <p:spPr>
          <a:xfrm>
            <a:off x="6309360" y="3493080"/>
            <a:ext cx="4982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Активные красные ловушки</a:t>
            </a:r>
            <a:endParaRPr lang="ru-RU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1" descr="/mnt/data/maze_screens_cropped/04_loss_dialog.png"/>
          <p:cNvPicPr/>
          <p:nvPr/>
        </p:nvPicPr>
        <p:blipFill>
          <a:blip r:embed="rId2"/>
          <a:stretch/>
        </p:blipFill>
        <p:spPr>
          <a:xfrm>
            <a:off x="7200000" y="3840480"/>
            <a:ext cx="3239280" cy="196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8"/>
          <p:cNvSpPr/>
          <p:nvPr/>
        </p:nvSpPr>
        <p:spPr>
          <a:xfrm>
            <a:off x="6309360" y="5852160"/>
            <a:ext cx="4982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Сообщение о поражении</a:t>
            </a:r>
            <a:endParaRPr lang="ru-RU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502920" y="255960"/>
            <a:ext cx="80456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Результаты: победа и перезапуск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9006840" y="301680"/>
            <a:ext cx="26049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Роль: тестировщик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530280" y="6446520"/>
            <a:ext cx="4570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Проект 3 · Программная инженерия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0" descr="/mnt/data/maze_screens_cropped/05_win_dialog.png"/>
          <p:cNvPicPr/>
          <p:nvPr/>
        </p:nvPicPr>
        <p:blipFill>
          <a:blip r:embed="rId1"/>
          <a:stretch/>
        </p:blipFill>
        <p:spPr>
          <a:xfrm>
            <a:off x="685800" y="1320120"/>
            <a:ext cx="5485320" cy="39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5"/>
          <p:cNvSpPr/>
          <p:nvPr/>
        </p:nvSpPr>
        <p:spPr>
          <a:xfrm>
            <a:off x="6446520" y="1234440"/>
            <a:ext cx="4296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Segoe UI"/>
              </a:rPr>
              <a:t>Ожидаемое поведение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6446520" y="1664280"/>
            <a:ext cx="4753800" cy="31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48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при достижении зелёной клетки выводится сообщение «Вы прошли лабиринт!»</a:t>
            </a:r>
            <a:endParaRPr lang="ru-RU" sz="1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48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в сообщении отображается количество сделанных шагов</a:t>
            </a:r>
            <a:endParaRPr lang="ru-RU" sz="1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48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после закрытия сообщения запускается новая партия</a:t>
            </a:r>
            <a:endParaRPr lang="ru-RU" sz="1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48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кнопка «Новая игра» корректно перезапускает лабиринт в любой момент</a:t>
            </a:r>
            <a:endParaRPr lang="ru-RU" sz="1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8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Segoe UI"/>
              </a:rPr>
              <a:t>• </a:t>
            </a:r>
            <a:r>
              <a:rPr lang="en-US" sz="148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приложение продолжает работать без перезапуска процесса</a:t>
            </a:r>
            <a:endParaRPr lang="ru-RU" sz="1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6446520" y="5257800"/>
            <a:ext cx="1644840" cy="30996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Статус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8321040" y="5248800"/>
            <a:ext cx="29707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победа, поражение и перезапуск работают корректно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502920" y="255960"/>
            <a:ext cx="80456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Итог тестирования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9006840" y="301680"/>
            <a:ext cx="26049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Роль: тестировщик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530280" y="6446520"/>
            <a:ext cx="4570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Проект 3 · Программная инженерия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685800" y="1143000"/>
            <a:ext cx="2559240" cy="34632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Группа проверок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6"/>
          <p:cNvSpPr/>
          <p:nvPr/>
        </p:nvSpPr>
        <p:spPr>
          <a:xfrm>
            <a:off x="3429000" y="1143000"/>
            <a:ext cx="7999920" cy="34632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Результат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685800" y="1664280"/>
            <a:ext cx="2559240" cy="3646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2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Запуск и интерфейс</a:t>
            </a:r>
            <a:endParaRPr lang="ru-RU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3429000" y="1664280"/>
            <a:ext cx="7999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4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окно открывается, элементы отображаются корректно</a:t>
            </a:r>
            <a:endParaRPr lang="ru-RU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685800" y="2194560"/>
            <a:ext cx="2559240" cy="3646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2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Меню и справка</a:t>
            </a:r>
            <a:endParaRPr lang="ru-RU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3429000" y="2194560"/>
            <a:ext cx="7999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4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кнопки и пункты меню выполняют заявленные действия</a:t>
            </a:r>
            <a:endParaRPr lang="ru-RU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1"/>
          <p:cNvSpPr/>
          <p:nvPr/>
        </p:nvSpPr>
        <p:spPr>
          <a:xfrm>
            <a:off x="685800" y="2724840"/>
            <a:ext cx="2559240" cy="3646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2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Управление</a:t>
            </a:r>
            <a:endParaRPr lang="ru-RU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2"/>
          <p:cNvSpPr/>
          <p:nvPr/>
        </p:nvSpPr>
        <p:spPr>
          <a:xfrm>
            <a:off x="3429000" y="2724840"/>
            <a:ext cx="7999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4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клавиатура и GUI-кнопки работают корректно</a:t>
            </a:r>
            <a:endParaRPr lang="ru-RU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685800" y="3255120"/>
            <a:ext cx="2559240" cy="3646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2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Ловушки</a:t>
            </a:r>
            <a:endParaRPr lang="ru-RU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4"/>
          <p:cNvSpPr/>
          <p:nvPr/>
        </p:nvSpPr>
        <p:spPr>
          <a:xfrm>
            <a:off x="3429000" y="3255120"/>
            <a:ext cx="7999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4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активация, поражение и смена состояния работают корректно</a:t>
            </a:r>
            <a:endParaRPr lang="ru-RU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5"/>
          <p:cNvSpPr/>
          <p:nvPr/>
        </p:nvSpPr>
        <p:spPr>
          <a:xfrm>
            <a:off x="685800" y="3785760"/>
            <a:ext cx="2559240" cy="3646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2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Победа и новая игра</a:t>
            </a:r>
            <a:endParaRPr lang="ru-RU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6"/>
          <p:cNvSpPr/>
          <p:nvPr/>
        </p:nvSpPr>
        <p:spPr>
          <a:xfrm>
            <a:off x="3429000" y="3785760"/>
            <a:ext cx="7999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4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завершение партии и перезапуск выполняются корректно</a:t>
            </a:r>
            <a:endParaRPr lang="ru-RU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7"/>
          <p:cNvSpPr/>
          <p:nvPr/>
        </p:nvSpPr>
        <p:spPr>
          <a:xfrm>
            <a:off x="685800" y="4663440"/>
            <a:ext cx="1827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Segoe UI"/>
                <a:ea typeface="Segoe UI"/>
              </a:rPr>
              <a:t>Вывод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8"/>
          <p:cNvSpPr/>
          <p:nvPr/>
        </p:nvSpPr>
        <p:spPr>
          <a:xfrm>
            <a:off x="685800" y="5074920"/>
            <a:ext cx="107431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По результатам тестирования приложение «Лабиринт» соответствует основным функциональным требованиям: пользователь может запустить игру, управлять игроком, открыть справку, начать новую партию, завершить приложение, выиграть или проиграть при срабатывании ловушек. Ошибок не выявлено.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19"/>
          <p:cNvSpPr/>
          <p:nvPr/>
        </p:nvSpPr>
        <p:spPr>
          <a:xfrm>
            <a:off x="2033640" y="3060000"/>
            <a:ext cx="80456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11827"/>
                </a:solidFill>
                <a:effectLst/>
                <a:uFillTx/>
                <a:latin typeface="Segoe UI"/>
                <a:ea typeface="Segoe UI"/>
              </a:rPr>
              <a:t>Спасибо за внимание!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0"/>
          <p:cNvSpPr/>
          <p:nvPr/>
        </p:nvSpPr>
        <p:spPr>
          <a:xfrm>
            <a:off x="530280" y="80460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1"/>
          <p:cNvSpPr/>
          <p:nvPr/>
        </p:nvSpPr>
        <p:spPr>
          <a:xfrm>
            <a:off x="9006840" y="301680"/>
            <a:ext cx="2604960" cy="36468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Роль: общая часть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2"/>
          <p:cNvSpPr/>
          <p:nvPr/>
        </p:nvSpPr>
        <p:spPr>
          <a:xfrm>
            <a:off x="530280" y="6446520"/>
            <a:ext cx="4570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Проект 3 · Программная инженерия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 pitchFamily="0" charset="1"/>
        <a:ea typeface=""/>
        <a:cs typeface=""/>
      </a:majorFont>
      <a:minorFont>
        <a:latin typeface="Segoe U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LibreOffice/25.8.6.2$Windows_X86_64 LibreOffice_project/b4b39682cd9868fa725bc664aff94278d315bd04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2026-06-03T15:52:33Z</dcterms:created>
  <dc:creator>OpenAI</dc:creator>
  <dc:description/>
  <dc:language>ru-RU</dc:language>
  <cp:lastModifiedBy/>
  <dcterms:modified xsi:type="dcterms:W3CDTF">2026-06-04T12:31:59Z</dcterms:modified>
  <cp:revision>6</cp:revision>
  <dc:subject>Презентация тестировщика: Игра Лабиринт</dc:subject>
  <dc:title>Проект 3: Игра «Лабиринт»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